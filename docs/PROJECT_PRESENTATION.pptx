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35240" y="-1371600"/>
            <a:ext cx="5486400" cy="5486400"/>
          </a:xfrm>
          <a:prstGeom prst="ellipse">
            <a:avLst/>
          </a:prstGeom>
          <a:solidFill>
            <a:srgbClr val="2F2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2103120"/>
            <a:ext cx="4389120" cy="4389120"/>
          </a:xfrm>
          <a:prstGeom prst="ellipse">
            <a:avLst/>
          </a:prstGeom>
          <a:solidFill>
            <a:srgbClr val="45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1600200" cy="310896"/>
          </a:xfrm>
          <a:prstGeom prst="roundRect">
            <a:avLst/>
          </a:prstGeom>
          <a:solidFill>
            <a:srgbClr val="362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822960"/>
            <a:ext cx="1508760" cy="201168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CDC1FC"/>
                </a:solidFill>
                <a:latin typeface="Aptos"/>
              </a:defRPr>
            </a:pPr>
            <a:r>
              <a:t>SUMMER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8046720" cy="23317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Design and Development</a:t>
            </a:r>
            <a:br/>
            <a:r>
              <a:t>of a Responsive</a:t>
            </a:r>
            <a:br/>
            <a:r>
              <a:t>Interface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50791"/>
            <a:ext cx="7315200" cy="566928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B5ABFF"/>
                </a:solidFill>
                <a:latin typeface="Aptos"/>
              </a:defRPr>
            </a:pPr>
            <a:r>
              <a:t>Using 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9144000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C3C9DD"/>
                </a:solidFill>
                <a:latin typeface="Aptos"/>
              </a:defRPr>
            </a:pPr>
            <a:r>
              <a:t>Presented by: Vivek Sahu  |  Maharaja Surajmal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9144000" cy="23774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9A2B9"/>
                </a:solidFill>
                <a:latin typeface="Aptos"/>
              </a:defRPr>
            </a:pPr>
            <a:r>
              <a:t>UIBOX Studio • Web Development Intern • 22 June – 03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The problem we are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91440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F1627"/>
                </a:solidFill>
                <a:latin typeface="Aptos"/>
              </a:defRPr>
            </a:pPr>
            <a:r>
              <a:t>When every page is styled separately,</a:t>
            </a:r>
            <a:br/>
            <a:r>
              <a:t>interfaces become inconsistent.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350215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3374136"/>
            <a:ext cx="438912" cy="438912"/>
          </a:xfrm>
          <a:prstGeom prst="round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3364992"/>
            <a:ext cx="2496312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Duplicate UI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4069080"/>
            <a:ext cx="3063240" cy="9418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Repeated buttons, forms and navigation increase maintenance.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154680"/>
            <a:ext cx="350215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3374136"/>
            <a:ext cx="438912" cy="438912"/>
          </a:xfrm>
          <a:prstGeom prst="roundRect">
            <a:avLst/>
          </a:prstGeom>
          <a:solidFill>
            <a:srgbClr val="268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364992"/>
            <a:ext cx="2496312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Visual inconsistency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069080"/>
            <a:ext cx="3063240" cy="9418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Colors, typography and spacing vary across pages.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3154680"/>
            <a:ext cx="350215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8" y="3374136"/>
            <a:ext cx="438912" cy="438912"/>
          </a:xfrm>
          <a:prstGeom prst="roundRect">
            <a:avLst/>
          </a:prstGeom>
          <a:solidFill>
            <a:srgbClr val="1CA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3364992"/>
            <a:ext cx="2496312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Slow 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4069080"/>
            <a:ext cx="3063240" cy="9418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Small design updates require editing multiple screens.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02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The solution: one connected UI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4572000" cy="3611880"/>
          </a:xfrm>
          <a:prstGeom prst="roundRect">
            <a:avLst/>
          </a:prstGeom>
          <a:solidFill>
            <a:srgbClr val="0F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176272"/>
            <a:ext cx="3931920" cy="45720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999232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D6D1FF"/>
                </a:solidFill>
                <a:latin typeface="Aptos"/>
              </a:defRPr>
            </a:pPr>
            <a:r>
              <a:t>16 interactive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511296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D6D1FF"/>
                </a:solidFill>
                <a:latin typeface="Aptos"/>
              </a:defRPr>
            </a:pPr>
            <a:r>
              <a:t>05 color palettes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D6D1FF"/>
                </a:solidFill>
                <a:latin typeface="Aptos"/>
              </a:defRPr>
            </a:pPr>
            <a:r>
              <a:t>03 page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535424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D6D1FF"/>
                </a:solidFill>
                <a:latin typeface="Aptos"/>
              </a:defRPr>
            </a:pPr>
            <a:r>
              <a:t>+ live component playground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828800"/>
            <a:ext cx="566928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33872" y="2048256"/>
            <a:ext cx="438912" cy="438912"/>
          </a:xfrm>
          <a:prstGeom prst="round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938528"/>
            <a:ext cx="4663440" cy="28346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42E40"/>
                </a:solidFill>
                <a:latin typeface="Aptos"/>
              </a:defRPr>
            </a:pPr>
            <a:r>
              <a:t>Reusable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359152"/>
            <a:ext cx="4645152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E7A90"/>
                </a:solidFill>
                <a:latin typeface="Aptos"/>
              </a:defRPr>
            </a:pPr>
            <a:r>
              <a:t>Design patterns are managed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063240"/>
            <a:ext cx="566928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33872" y="3282696"/>
            <a:ext cx="438912" cy="438912"/>
          </a:xfrm>
          <a:prstGeom prst="round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172968"/>
            <a:ext cx="4663440" cy="28346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42E40"/>
                </a:solidFill>
                <a:latin typeface="Aptos"/>
              </a:defRPr>
            </a:pPr>
            <a:r>
              <a:t>Responsive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593592"/>
            <a:ext cx="4645152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E7A90"/>
                </a:solidFill>
                <a:latin typeface="Aptos"/>
              </a:defRPr>
            </a:pPr>
            <a:r>
              <a:t>Layouts adapt to desktop, tablet and phone.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297680"/>
            <a:ext cx="566928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33872" y="4517136"/>
            <a:ext cx="438912" cy="438912"/>
          </a:xfrm>
          <a:prstGeom prst="round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407408"/>
            <a:ext cx="4663440" cy="28346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42E40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828032"/>
            <a:ext cx="4645152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E7A90"/>
                </a:solidFill>
                <a:latin typeface="Aptos"/>
              </a:defRPr>
            </a:pPr>
            <a:r>
              <a:t>Components provide genuine local states and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03 /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" y="2139696"/>
            <a:ext cx="438912" cy="438912"/>
          </a:xfrm>
          <a:prstGeom prst="round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2130552"/>
            <a:ext cx="4434840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34640"/>
            <a:ext cx="5001768" cy="4846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Component structure and UI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920240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38544" y="2139696"/>
            <a:ext cx="438912" cy="438912"/>
          </a:xfrm>
          <a:prstGeom prst="roundRect">
            <a:avLst/>
          </a:prstGeom>
          <a:solidFill>
            <a:srgbClr val="278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2904" y="2130552"/>
            <a:ext cx="4434840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JavaScript ES6+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834640"/>
            <a:ext cx="5001768" cy="4846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Events, validation and 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30752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" y="3950208"/>
            <a:ext cx="438912" cy="438912"/>
          </a:xfrm>
          <a:prstGeom prst="roundRect">
            <a:avLst/>
          </a:prstGeom>
          <a:solidFill>
            <a:srgbClr val="1CA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3941064"/>
            <a:ext cx="4434840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HTML5 &amp; CSS3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5001768" cy="4846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Responsive and semantic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3730752"/>
            <a:ext cx="5440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38544" y="3950208"/>
            <a:ext cx="438912" cy="438912"/>
          </a:xfrm>
          <a:prstGeom prst="roundRect">
            <a:avLst/>
          </a:prstGeom>
          <a:solidFill>
            <a:srgbClr val="D69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2904" y="3941064"/>
            <a:ext cx="4434840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45152"/>
            <a:ext cx="5001768" cy="48463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Local development and static builds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04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Application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783080"/>
            <a:ext cx="2926080" cy="585216"/>
          </a:xfrm>
          <a:prstGeom prst="roundRect">
            <a:avLst/>
          </a:prstGeom>
          <a:solidFill>
            <a:srgbClr val="0F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92807"/>
            <a:ext cx="2743200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Web Browser / React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2350008"/>
            <a:ext cx="54864" cy="502920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907792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136392"/>
            <a:ext cx="3182112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84448"/>
            <a:ext cx="3346704" cy="22860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E7A90"/>
                </a:solidFill>
                <a:latin typeface="Aptos"/>
              </a:defRPr>
            </a:pPr>
            <a:r>
              <a:t>UI samples + local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907792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3136392"/>
            <a:ext cx="3182112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Playground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584448"/>
            <a:ext cx="3346704" cy="22860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E7A90"/>
                </a:solidFill>
                <a:latin typeface="Aptos"/>
              </a:defRPr>
            </a:pPr>
            <a:r>
              <a:t>Customization + JSX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3336" y="2907792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3136392"/>
            <a:ext cx="3182112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Design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3584448"/>
            <a:ext cx="3346704" cy="22860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E7A90"/>
                </a:solidFill>
                <a:latin typeface="Aptos"/>
              </a:defRPr>
            </a:pPr>
            <a:r>
              <a:t>CSS + LocalStorage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782312"/>
            <a:ext cx="5148072" cy="658368"/>
          </a:xfrm>
          <a:prstGeom prst="roundRect">
            <a:avLst/>
          </a:prstGeom>
          <a:solidFill>
            <a:srgbClr val="F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974336"/>
            <a:ext cx="4809744" cy="2743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6958DF"/>
                </a:solidFill>
                <a:latin typeface="Aptos"/>
              </a:defRPr>
            </a:pPr>
            <a:r>
              <a:t>Responsive templates → Static Vite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715000"/>
            <a:ext cx="932688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Frontend-only demo · No live company data · No authentication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05 /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What the application demonstrates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10512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39112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2002536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Component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2468880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16 preview examples + filtering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810512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039112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2002536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Live Playground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468880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Edit label, size, color + copy JSX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3200400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429000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5336" y="3392424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Token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858768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Theme, radius, density + JSON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3200400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3429000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3392424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Business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3858768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Responsive agency website + 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4590288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818888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336" y="4782312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Dashboard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6" y="5248655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Activity chart + project overview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4590288"/>
            <a:ext cx="541324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4818888"/>
            <a:ext cx="530352" cy="402336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6958D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4782312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Login 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5248655"/>
            <a:ext cx="4297680" cy="32918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E7A90"/>
                </a:solidFill>
                <a:latin typeface="Aptos"/>
              </a:defRPr>
            </a:pPr>
            <a:r>
              <a:t>Client-side email/password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06 / FACULTY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Live demonstration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1828800"/>
            <a:ext cx="438912" cy="438912"/>
          </a:xfrm>
          <a:prstGeom prst="ellipse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924812"/>
            <a:ext cx="36576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19656"/>
            <a:ext cx="233172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Open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1837943"/>
            <a:ext cx="73152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Show filters, forms, modal and progress.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2587752"/>
            <a:ext cx="438912" cy="438912"/>
          </a:xfrm>
          <a:prstGeom prst="ellipse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683764"/>
            <a:ext cx="36576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578608"/>
            <a:ext cx="233172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Customize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596896"/>
            <a:ext cx="73152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Change a button label, variant and size.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3346704"/>
            <a:ext cx="438912" cy="438912"/>
          </a:xfrm>
          <a:prstGeom prst="ellipse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442716"/>
            <a:ext cx="36576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337560"/>
            <a:ext cx="233172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Export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3355848"/>
            <a:ext cx="73152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Switch color and download JSON.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" y="4105656"/>
            <a:ext cx="438912" cy="438912"/>
          </a:xfrm>
          <a:prstGeom prst="ellipse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201668"/>
            <a:ext cx="36576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4096512"/>
            <a:ext cx="233172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Preview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4114800"/>
            <a:ext cx="73152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Show landing page, chart, login validation.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" y="4864608"/>
            <a:ext cx="438912" cy="438912"/>
          </a:xfrm>
          <a:prstGeom prst="ellipse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960620"/>
            <a:ext cx="36576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4855464"/>
            <a:ext cx="233172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F1627"/>
                </a:solidFill>
                <a:latin typeface="Aptos"/>
              </a:defRPr>
            </a:pPr>
            <a:r>
              <a:t>Explain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873752"/>
            <a:ext cx="73152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E7A90"/>
                </a:solidFill>
                <a:latin typeface="Aptos"/>
              </a:defRPr>
            </a:pPr>
            <a:r>
              <a:t>Walk through component state and responsive CSS.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95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103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958DF"/>
                </a:solidFill>
                <a:latin typeface="Aptos"/>
              </a:defRPr>
            </a:pPr>
            <a:r>
              <a:t>07 /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10058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F1627"/>
                </a:solidFill>
                <a:latin typeface="Aptos"/>
              </a:defRPr>
            </a:pPr>
            <a:r>
              <a:t>Testing, limitations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83096"/>
            <a:ext cx="10881360" cy="13716"/>
          </a:xfrm>
          <a:prstGeom prst="rect">
            <a:avLst/>
          </a:prstGeom>
          <a:solidFill>
            <a:srgbClr val="E1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65392"/>
            <a:ext cx="8229600" cy="146304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E7A90"/>
                </a:solidFill>
                <a:latin typeface="Aptos"/>
              </a:defRPr>
            </a:pPr>
            <a:r>
              <a:t>UIBOX Studio · Web Development Internship · Academic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6958D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828800"/>
            <a:ext cx="5385816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48256"/>
            <a:ext cx="438912" cy="438912"/>
          </a:xfrm>
          <a:prstGeom prst="roundRect">
            <a:avLst/>
          </a:prstGeom>
          <a:solidFill>
            <a:srgbClr val="1CA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39112"/>
            <a:ext cx="4379975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Testing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743200"/>
            <a:ext cx="4946904" cy="22677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E7A90"/>
                </a:solidFill>
                <a:latin typeface="Aptos"/>
              </a:defRPr>
            </a:pPr>
            <a:r>
              <a:t>Navigation and search</a:t>
            </a:r>
            <a:br/>
            <a:r>
              <a:t>Interactive component states</a:t>
            </a:r>
            <a:br/>
            <a:r>
              <a:t>Responsive screen sizes</a:t>
            </a:r>
            <a:br/>
            <a:r>
              <a:t>Theme persistence</a:t>
            </a:r>
            <a:br/>
            <a:r>
              <a:t>Form validation and keyboard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28800"/>
            <a:ext cx="5202936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1384" y="2048256"/>
            <a:ext cx="438912" cy="438912"/>
          </a:xfrm>
          <a:prstGeom prst="roundRect">
            <a:avLst/>
          </a:prstGeom>
          <a:solidFill>
            <a:srgbClr val="D69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2039112"/>
            <a:ext cx="4197096" cy="5486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42E40"/>
                </a:solidFill>
                <a:latin typeface="Aptos"/>
              </a:defRPr>
            </a:pPr>
            <a:r>
              <a:t>Honest project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743200"/>
            <a:ext cx="4764024" cy="2267712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E7A90"/>
                </a:solidFill>
                <a:latin typeface="Aptos"/>
              </a:defRPr>
            </a:pPr>
            <a:r>
              <a:t>Frontend demo only</a:t>
            </a:r>
            <a:br/>
            <a:r>
              <a:t>No real login or email delivery</a:t>
            </a:r>
            <a:br/>
            <a:r>
              <a:t>Illustrative dashboard data</a:t>
            </a:r>
            <a:br/>
            <a:r>
              <a:t>Full WCAG audit is 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6958DF"/>
                </a:solidFill>
                <a:latin typeface="Aptos"/>
              </a:defRPr>
            </a:pPr>
            <a:r>
              <a:t>Faculty submission should include genuine screenshots, real test results and work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645920"/>
            <a:ext cx="5486400" cy="5486400"/>
          </a:xfrm>
          <a:prstGeom prst="ellipse">
            <a:avLst/>
          </a:prstGeom>
          <a:solidFill>
            <a:srgbClr val="332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32004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B2A5F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144000" cy="182880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4100" b="1">
                <a:solidFill>
                  <a:srgbClr val="FFFFFF"/>
                </a:solidFill>
                <a:latin typeface="Aptos"/>
              </a:defRPr>
            </a:pPr>
            <a:r>
              <a:t>Consistent design.</a:t>
            </a:r>
            <a:br/>
            <a:r>
              <a:t>Better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26864"/>
            <a:ext cx="9144000" cy="50292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CEC9F8"/>
                </a:solidFill>
                <a:latin typeface="Aptos"/>
              </a:defRPr>
            </a:pPr>
            <a:r>
              <a:t>Design and Development of a Responsive Interface Design System Using React.js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05856"/>
            <a:ext cx="9144000" cy="365760"/>
          </a:xfrm>
          <a:prstGeom prst="rect">
            <a:avLst/>
          </a:prstGeom>
          <a:noFill/>
        </p:spPr>
        <p:txBody>
          <a:bodyPr wrap="square" lIns="0" rIns="0" tIns="9144" bIns="9144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9BA8C0"/>
                </a:solidFill>
                <a:latin typeface="Aptos"/>
              </a:defRPr>
            </a:pPr>
            <a:r>
              <a:t>Vivek Sahu  ·  Summer Internship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